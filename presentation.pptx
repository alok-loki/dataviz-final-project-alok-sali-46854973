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800" b="1">
                <a:solidFill>
                  <a:srgbClr val="F3F4F6"/>
                </a:solidFill>
                <a:latin typeface="Arial"/>
              </a:defRPr>
            </a:pPr>
            <a:r>
              <a:t>Decarbonization Dynamics</a:t>
            </a:r>
          </a:p>
          <a:p>
            <a:pPr>
              <a:spcBef>
                <a:spcPts val="1200"/>
              </a:spcBef>
              <a:defRPr sz="2000">
                <a:solidFill>
                  <a:srgbClr val="94A3B8"/>
                </a:solidFill>
                <a:latin typeface="Arial"/>
              </a:defRPr>
            </a:pPr>
            <a:r>
              <a:t>A Multi-Dimensional Story of Global CO2 Emissions</a:t>
            </a:r>
          </a:p>
          <a:p>
            <a:pPr>
              <a:spcBef>
                <a:spcPts val="4000"/>
              </a:spcBef>
              <a:defRPr sz="1400">
                <a:solidFill>
                  <a:srgbClr val="C2410C"/>
                </a:solidFill>
                <a:latin typeface="Arial"/>
              </a:defRPr>
            </a:pPr>
            <a:r>
              <a:t>Final Individual Project • Data Visualization • Summer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"/>
              </a:defRPr>
            </a:pPr>
            <a:r>
              <a:t>Project Overview &amp;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Dataset Sourced: </a:t>
            </a:r>
            <a:r>
              <a:rPr b="0" sz="1500">
                <a:solidFill>
                  <a:srgbClr val="0F172A"/>
                </a:solidFill>
              </a:rPr>
              <a:t>Our World in Data (OWID) CO2 &amp; GHG Emissions dataset. A rich, high-fidelity real-world dataset covering historical variables globally.</a:t>
            </a:r>
          </a:p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Analytical Focus: </a:t>
            </a:r>
            <a:r>
              <a:rPr b="0" sz="1500">
                <a:solidFill>
                  <a:srgbClr val="0F172A"/>
                </a:solidFill>
              </a:rPr>
              <a:t>Examining shifts in absolute regional emissions, decoupling pathways (GDP vs CO2 per capita), and energy transition structures.</a:t>
            </a:r>
          </a:p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Visual Standards: </a:t>
            </a:r>
            <a:r>
              <a:rPr b="0" sz="1500">
                <a:solidFill>
                  <a:srgbClr val="0F172A"/>
                </a:solidFill>
              </a:rPr>
              <a:t>Plotly-exclusive figures incorporating CVD-safe color mappings, clear takeaway-oriented titles, direct annotations, and decluttered layouts.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137160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Analysis Notebook: </a:t>
            </a:r>
            <a:r>
              <a:rPr b="0" sz="1500">
                <a:solidFill>
                  <a:srgbClr val="0F172A"/>
                </a:solidFill>
              </a:rPr>
              <a:t>An structured Python notebook containing data loading, exploratory analysis, and 10 detailed publication-ready figures.</a:t>
            </a:r>
          </a:p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Interactive Dashboard: </a:t>
            </a:r>
            <a:r>
              <a:rPr b="0" sz="1500">
                <a:solidFill>
                  <a:srgbClr val="0F172A"/>
                </a:solidFill>
              </a:rPr>
              <a:t>A Streamlit web application showcasing a curated interactive set of the findings with dynamic sidebar controls and tabs.</a:t>
            </a:r>
          </a:p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Core Conclusions: </a:t>
            </a:r>
            <a:r>
              <a:rPr b="0" sz="1500">
                <a:solidFill>
                  <a:srgbClr val="0F172A"/>
                </a:solidFill>
              </a:rPr>
              <a:t>Evidence shows successful decoupling of emissions and economic growth in developed countries, but rising absolute volumes in developing regions.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"/>
              </a:defRPr>
            </a:pPr>
            <a:r>
              <a:t>1. Global Shifts: The Rise of Asian Emissions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Historical Context: </a:t>
            </a:r>
            <a:r>
              <a:rPr b="0" sz="1500">
                <a:solidFill>
                  <a:srgbClr val="0F172A"/>
                </a:solidFill>
              </a:rPr>
              <a:t>For over a century, North America and Europe produced the vast majority of industrial CO2 emissions.</a:t>
            </a:r>
          </a:p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Modern Shift: </a:t>
            </a:r>
            <a:r>
              <a:rPr b="0" sz="1500">
                <a:solidFill>
                  <a:srgbClr val="0F172A"/>
                </a:solidFill>
              </a:rPr>
              <a:t>Since 1970, Asian emissions have expanded exponentially to support rapid industrialization and population growth.</a:t>
            </a:r>
          </a:p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Current State: </a:t>
            </a:r>
            <a:r>
              <a:rPr b="0" sz="1500">
                <a:solidFill>
                  <a:srgbClr val="0F172A"/>
                </a:solidFill>
              </a:rPr>
              <a:t>Asia now contributes more annual emissions than the rest of the world combined, while Western regions have stabilized and begun a slow decline.</a:t>
            </a:r>
          </a:p>
        </p:txBody>
      </p:sp>
      <p:pic>
        <p:nvPicPr>
          <p:cNvPr id="4" name="Picture 3" descr="global_trends_tab_17841276244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217920" cy="339424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"/>
              </a:defRPr>
            </a:pPr>
            <a:r>
              <a:t>2. Economic Decoupling: G7 vs. BRICS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Western Decoupling: </a:t>
            </a:r>
            <a:r>
              <a:rPr b="0" sz="1500">
                <a:solidFill>
                  <a:srgbClr val="0F172A"/>
                </a:solidFill>
              </a:rPr>
              <a:t>Major G7 economies (e.g., USA, UK, Germany) show clear 'decoupling' post-2000. GDP per capita grows (dotted lines) while CO2 per capita falls (solid lines).</a:t>
            </a:r>
          </a:p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Leapfrog Potential: </a:t>
            </a:r>
            <a:r>
              <a:rPr b="0" sz="1500">
                <a:solidFill>
                  <a:srgbClr val="0F172A"/>
                </a:solidFill>
              </a:rPr>
              <a:t>Developing nations show rising emissions in tandem with wealth, but present opportunities to transition directly to clean energy systems.</a:t>
            </a:r>
          </a:p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Visual Analysis: </a:t>
            </a:r>
            <a:r>
              <a:rPr b="0" sz="1500">
                <a:solidFill>
                  <a:srgbClr val="0F172A"/>
                </a:solidFill>
              </a:rPr>
              <a:t>Normalizing to base index (2000 = 100) displays this divergence clearly.</a:t>
            </a:r>
          </a:p>
        </p:txBody>
      </p:sp>
      <p:pic>
        <p:nvPicPr>
          <p:cNvPr id="4" name="Picture 3" descr="economic_decoupling_tab_178412763517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217920" cy="33942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F172A"/>
                </a:solidFill>
                <a:latin typeface="Arial"/>
              </a:defRPr>
            </a:pPr>
            <a:r>
              <a:t>3. Fuel Breakdown &amp; Resource Transitions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4389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Dominant Resources: </a:t>
            </a:r>
            <a:r>
              <a:rPr b="0" sz="1500">
                <a:solidFill>
                  <a:srgbClr val="0F172A"/>
                </a:solidFill>
              </a:rPr>
              <a:t>Coal and Oil remain the leading drivers of absolute emissions for the top 10 global emitters.</a:t>
            </a:r>
          </a:p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Coal Dependency: </a:t>
            </a:r>
            <a:r>
              <a:rPr b="0" sz="1500">
                <a:solidFill>
                  <a:srgbClr val="0F172A"/>
                </a:solidFill>
              </a:rPr>
              <a:t>Nations like China and India have a highly coal-dominated emission profile due to heavy reliance on coal power plants.</a:t>
            </a:r>
          </a:p>
          <a:p>
            <a:pPr>
              <a:spcAft>
                <a:spcPts val="1200"/>
              </a:spcAft>
              <a:defRPr b="1" sz="1500">
                <a:solidFill>
                  <a:srgbClr val="0F172A"/>
                </a:solidFill>
                <a:latin typeface="Arial"/>
              </a:defRPr>
            </a:pPr>
            <a:r>
              <a:t>Gas Transition: </a:t>
            </a:r>
            <a:r>
              <a:rPr b="0" sz="1500">
                <a:solidFill>
                  <a:srgbClr val="0F172A"/>
                </a:solidFill>
              </a:rPr>
              <a:t>Developed nations have significantly reduced coal emissions by switching to natural gas as a bridge fuel, alongside renewables.</a:t>
            </a:r>
          </a:p>
        </p:txBody>
      </p:sp>
      <p:pic>
        <p:nvPicPr>
          <p:cNvPr id="4" name="Picture 3" descr="fuel_sources_tab_178412764255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3520" y="1371600"/>
            <a:ext cx="6217920" cy="339424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3F4F6"/>
                </a:solidFill>
                <a:latin typeface="Arial"/>
              </a:defRPr>
            </a:pPr>
            <a:r>
              <a:t>Interactive Dashboard Architecture</a:t>
            </a:r>
          </a:p>
        </p:txBody>
      </p:sp>
      <p:pic>
        <p:nvPicPr>
          <p:cNvPr id="3" name="Picture 2" descr="global_trends_tab_178412762448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5943600" cy="324449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0" y="1371600"/>
            <a:ext cx="45720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b="1" sz="1500">
                <a:solidFill>
                  <a:srgbClr val="F3F4F6"/>
                </a:solidFill>
                <a:latin typeface="Arial"/>
              </a:defRPr>
            </a:pPr>
            <a:r>
              <a:t>Sleek Dark Theme: </a:t>
            </a:r>
            <a:r>
              <a:rPr b="0" sz="1500">
                <a:solidFill>
                  <a:srgbClr val="94A3B8"/>
                </a:solidFill>
              </a:rPr>
              <a:t>Designed with a radial dot-grid pattern and responsive glassmorphic widgets to deliver a premium user experience.</a:t>
            </a:r>
          </a:p>
          <a:p>
            <a:pPr>
              <a:spcAft>
                <a:spcPts val="1200"/>
              </a:spcAft>
              <a:defRPr b="1" sz="1500">
                <a:solidFill>
                  <a:srgbClr val="F3F4F6"/>
                </a:solidFill>
                <a:latin typeface="Arial"/>
              </a:defRPr>
            </a:pPr>
            <a:r>
              <a:t>Dynamic Filters: </a:t>
            </a:r>
            <a:r>
              <a:rPr b="0" sz="1500">
                <a:solidFill>
                  <a:srgbClr val="94A3B8"/>
                </a:solidFill>
              </a:rPr>
              <a:t>Users can toggle years, regions, and select specific countries to recalculate variables and index indices dynamically.</a:t>
            </a:r>
          </a:p>
          <a:p>
            <a:pPr>
              <a:spcAft>
                <a:spcPts val="1200"/>
              </a:spcAft>
              <a:defRPr b="1" sz="1500">
                <a:solidFill>
                  <a:srgbClr val="F3F4F6"/>
                </a:solidFill>
                <a:latin typeface="Arial"/>
              </a:defRPr>
            </a:pPr>
            <a:r>
              <a:t>Hybrid Layout: </a:t>
            </a:r>
            <a:r>
              <a:rPr b="0" sz="1500">
                <a:solidFill>
                  <a:srgbClr val="94A3B8"/>
                </a:solidFill>
              </a:rPr>
              <a:t>Charts are nested inside high-contrast white container boxes to maintain maximum visual clarity and standard compliance.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9090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3F4F6"/>
                </a:solidFill>
                <a:latin typeface="Arial"/>
              </a:defRPr>
            </a:pPr>
            <a:r>
              <a:t>Conclusions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183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0"/>
              </a:spcAft>
              <a:defRPr b="1" sz="1500">
                <a:solidFill>
                  <a:srgbClr val="F3F4F6"/>
                </a:solidFill>
                <a:latin typeface="Arial"/>
              </a:defRPr>
            </a:pPr>
            <a:r>
              <a:t>1. The Decoupling Proof: </a:t>
            </a:r>
            <a:r>
              <a:rPr b="0" sz="1500">
                <a:solidFill>
                  <a:srgbClr val="94A3B8"/>
                </a:solidFill>
              </a:rPr>
              <a:t>Economic development no longer strictly requires increasing carbon emissions. Policies, renewable investments, and efficiency upgrades have successfully bent the curve in major developed nations.</a:t>
            </a:r>
          </a:p>
          <a:p>
            <a:pPr>
              <a:spcAft>
                <a:spcPts val="2000"/>
              </a:spcAft>
              <a:defRPr b="1" sz="1500">
                <a:solidFill>
                  <a:srgbClr val="F3F4F6"/>
                </a:solidFill>
                <a:latin typeface="Arial"/>
              </a:defRPr>
            </a:pPr>
            <a:r>
              <a:t>2. Asia's Central Role: </a:t>
            </a:r>
            <a:r>
              <a:rPr b="0" sz="1500">
                <a:solidFill>
                  <a:srgbClr val="94A3B8"/>
                </a:solidFill>
              </a:rPr>
              <a:t>Global decarbonization cannot occur without support for industrial transition in Asia. Providing technology sharing and capital to help developing economies leapfrog coal is critical.</a:t>
            </a:r>
          </a:p>
          <a:p>
            <a:pPr>
              <a:spcAft>
                <a:spcPts val="2000"/>
              </a:spcAft>
              <a:defRPr b="1" sz="1500">
                <a:solidFill>
                  <a:srgbClr val="F3F4F6"/>
                </a:solidFill>
                <a:latin typeface="Arial"/>
              </a:defRPr>
            </a:pPr>
            <a:r>
              <a:t>3. Storytelling with Data: </a:t>
            </a:r>
            <a:r>
              <a:rPr b="0" sz="1500">
                <a:solidFill>
                  <a:srgbClr val="94A3B8"/>
                </a:solidFill>
              </a:rPr>
              <a:t>Combining structured exploratory analysis (notebook) and dynamic, customer-facing delivery (dashboard) ensures insights are clear, compelling, and actionable for decision-makers.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